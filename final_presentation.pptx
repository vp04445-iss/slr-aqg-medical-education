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70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280160"/>
            <a:ext cx="3840480" cy="3840480"/>
          </a:xfrm>
          <a:prstGeom prst="ellipse">
            <a:avLst/>
          </a:prstGeom>
          <a:solidFill>
            <a:srgbClr val="0F7A8A">
              <a:alpha val="22000"/>
            </a:srgbClr>
          </a:solidFill>
          <a:ln w="12700">
            <a:solidFill>
              <a:srgbClr val="0F7A8A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LITERATURE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Question Generation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Medical Education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411480" y="2670048"/>
            <a:ext cx="6858000" cy="36576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880360"/>
            <a:ext cx="228600" cy="22860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852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Pradhyumn Nair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0" y="28529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Presenter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3355848"/>
            <a:ext cx="228600" cy="22860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Vishesh Patel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33284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831336"/>
            <a:ext cx="228600" cy="22860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803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Oluwasola Smith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 – Project Developer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736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Methods in Data Science &amp; ML  · 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Why This Topic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1: Pradhyumn Nair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2519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69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Time &amp; Scale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MCQ authorship takes 30–60 min per item. Medical schools need thousands annually — far beyond manual capacity.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36592" y="91440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914400"/>
            <a:ext cx="42519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01184" y="9692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Quality Inconsistency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01184" y="148132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questions vary widely in difficulty, cognitive level, and clinical accuracy depending on who wrote them.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42519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809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Growing Demand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8912" y="349300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bodies now require frequent formative assessments. Class sizes are rising. The gap is widening.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36592" y="292608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2926080"/>
            <a:ext cx="425196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29809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Opportunity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01184" y="349300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and LLMs can now generate fluent text — but applying them safely to high-stakes clinical assessment requires domain grounding.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Major Themes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1: Pradhyumn Nair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Overarching Research Question: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hybrid AQG systems combining transformer-based generation and structured medical knowledge bases produce clinically valid, cognitively diverse MCQs at scale for adaptive medical licensing exam preparation?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2011680" cy="3154680"/>
          </a:xfrm>
          <a:prstGeom prst="rect">
            <a:avLst/>
          </a:prstGeom>
          <a:solidFill>
            <a:srgbClr val="D6EAF8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55648"/>
            <a:ext cx="2011680" cy="347472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55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Ontology-Based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633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(2019)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Raamadhurai (2019)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547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EMMeT-OWL, TF-IDF templates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50592" y="1755648"/>
            <a:ext cx="2011680" cy="3154680"/>
          </a:xfrm>
          <a:prstGeom prst="rect">
            <a:avLst/>
          </a:prstGeom>
          <a:solidFill>
            <a:srgbClr val="D5F5E3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1755648"/>
            <a:ext cx="2011680" cy="347472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1755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42032" y="21762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/ LLM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42032" y="2633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42032" y="2834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Ghanem (2022), Saha (2023)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(2022), Steuer (2021)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2032" y="3547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42032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GPT-3/4, T5, BART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26864" y="1755648"/>
            <a:ext cx="2011680" cy="3154680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755648"/>
            <a:ext cx="2011680" cy="347472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755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18304" y="21762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Systems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18304" y="2633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2834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(2023)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 (2021), Bitew (2022)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18304" y="3547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18304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IRT, RL, DKT + BERT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03136" y="1755648"/>
            <a:ext cx="2011680" cy="3154680"/>
          </a:xfrm>
          <a:prstGeom prst="rect">
            <a:avLst/>
          </a:prstGeom>
          <a:solidFill>
            <a:srgbClr val="FAE5D3"/>
          </a:solidFill>
          <a:ln w="12700">
            <a:solidFill>
              <a:srgbClr val="CCCCC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03136" y="1755648"/>
            <a:ext cx="2011680" cy="347472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1755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94576" y="21762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&amp; Hybrid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94576" y="26334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94576" y="28346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Kurdi (2020)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Vachev (2022), Lotfi (2024)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4576" y="3547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94576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Wikidata, UMLS+DrugBank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— Ontology-Based Approaches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1: Pradhyumn Nair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9601200" cy="4023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41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Citation (APA)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Problem / Research Question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Key Findings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Leo et al. (2019)</a:t>
                      </a:r>
                      <a:endParaRPr lang="en-US" sz="950" dirty="0"/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Int'l J. AI in Education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Existing AQG limited to simple recall; high-stakes exams need case-based questions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EMMeT-OWL ontology (900K concepts); custom templates; 15 expert raters; 435 questions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3M+ MCQs generated; majority exam-suitable by experts; first higher-order ontology-based generator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Scalable; targets higher-order thinking; rigorous expert eval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Proprietary ontology; not open-source; no adaptive difficulty; no UMLS/SNOMED integration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Raamadhurai et al. (2019)</a:t>
                      </a:r>
                      <a:endParaRPr lang="en-US" sz="950" dirty="0"/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BEA Workshop @ ACL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No scalable tool exists for generating licensing exam prep MCQs from medical textbooks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TF-IDF + dependency parsing; template instantiation; semantic distractor search; 5 physicians, 300 items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2,000 Q/hr/chapter; 71% self-study suitable; 48% assessment-ready; 83% distractor plausibility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Highest distractor plausibility (83%); high throughput; lightweight pipeline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Template blindness; no Bloom's taxonomy; only internal medicine; no outcome study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— Transformer &amp; LLM-Based Approaches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2: Vishesh Patel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41248"/>
          <a:ext cx="8686800" cy="4114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Citation (APA)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 / Method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Findings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Gap / Limitation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Ghanem et al. (2022)</a:t>
                      </a:r>
                      <a:endParaRPr lang="en-US" sz="950" dirty="0"/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IEEE ICHI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GPT models for medical MCQ generation unexplored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GPT-2/3 fine-tuned on USMLE; UMLS distractor retrieval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GPT-3: 78% distractor plausibility; 12% hallucination rate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12% hallucination; no diversity analysis; high cost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Saha et al. (2023)</a:t>
                      </a:r>
                      <a:endParaRPr lang="en-US" sz="950" dirty="0"/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AAAI Workshop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CoT prompting for multi-specialty medical MCQ not studied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GPT-4/MedPaLM-2; chain-of-thought; UMLS key lookup; 600 items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GPT-4+CoT: 69% exam-ready; 7% error rate — best in class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High API cost; no adaptive integration; single-institution eval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Wang et al. (2022)</a:t>
                      </a:r>
                      <a:endParaRPr lang="en-US" sz="950" dirty="0"/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NAACL-HLT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Quality gap between machine and expert-authored questions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T5 span detection + difficulty-conditioned seq2seq; Bloom's tokens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34% fewer irrelevant Qs; human parity on clarity; Bloom's differentiation achieved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MedQuAD not exam-style; high training cost; noisy Bloom's labels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5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Steuer et al. (2021)</a:t>
                      </a:r>
                      <a:endParaRPr lang="en-US" sz="950" dirty="0"/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IEEE EDUCON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Simultaneous end-to-end stem+key+distractors generation unsolved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BART answer-aware conditioning; RACE+MedMCQA fine-tuning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BLEU-4: 18.4; ROUGE-L: 42.7; 62% exam-ready without edit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</a:rPr>
                        <a:t>Requires pre-identified answer span; degrades on long vignettes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— Adaptive Assessment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2: Vishesh Patel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8631936" cy="1261872"/>
          </a:xfrm>
          <a:prstGeom prst="rect">
            <a:avLst/>
          </a:prstGeom>
          <a:solidFill>
            <a:srgbClr val="FEF9E7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96112"/>
            <a:ext cx="128016" cy="12618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509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et al. (2023) — Medical Education Online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2435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question banks do not adapt to individual learner knowledge states in medical education.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2435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(2PL) + Thompson Sampling RL item-selection policy + external AQG module. 214 students, 1 semester.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greater pre/post improvement vs. control group. Higher session length &amp; engagement in adaptive cohort.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items lack calibrated IRT parameters; single institution; AQG not tightly integrated with IRT.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86000"/>
            <a:ext cx="863193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86000"/>
            <a:ext cx="128016" cy="12618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40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 et al. (2021) — AIED 2021, Springer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practice tools do not generate targeted questions at concepts where each student individually struggles.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6334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Knowledge Tracing (DKT) estimates per-learner concept mastery → BERT generates targeted MCQs for below-threshold concepts. 180 students, 8 weeks.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035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0.47 greater mastery gain; 22% reduction in time-to-mastery. Cold-start issue: ~20 warm-up interactions needed.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035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DKT cold-start requires 20 interactions; low performance on specialized concepts; no full MCQ format evaluation.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675888"/>
            <a:ext cx="8631936" cy="1261872"/>
          </a:xfrm>
          <a:prstGeom prst="rect">
            <a:avLst/>
          </a:prstGeom>
          <a:solidFill>
            <a:srgbClr val="FEF9E7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675888"/>
            <a:ext cx="128016" cy="12618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30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Bitew et al. (2022) — ACL Findings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4023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 from general NLP to medical text degrades AQG quality; labeled medical QA data is scarce.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T5-large curriculum transfer: alternates labeled medical QA + unlabeled MIMIC-III. Contrastive objective maximizes diversity.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4256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ROUGE-L improvement over direct fine-tuning. 31% fewer duplicate questions. Low-resource medical AQG enabled.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4256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higher training overhead; MIMIC-III noise; automated metrics only — no physician validation.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 — Knowledge Graph &amp; Hybrid Approaches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3: Oluwasola Smith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8631936" cy="1261872"/>
          </a:xfrm>
          <a:prstGeom prst="rect">
            <a:avLst/>
          </a:prstGeom>
          <a:solidFill>
            <a:srgbClr val="FAE5D3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96112"/>
            <a:ext cx="128016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509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Vachev et al. (2022) — EMNLP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2435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AQG systems produce surface-level factual questions; higher-order reasoning questions are extremely rare.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243584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NER + Wikidata multi-hop KG → entity-enriched T5 generator. Evaluated on biomedical abstracts by expert annotators.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LEAF questions require higher-order reasoning (vs ~40% baseline T5). Domain-agnostic: Wikidata → UMLS for medical use.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completeness limits coverage; tested on abstracts only; Wikidata medical data inferior to UMLS.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2286000"/>
            <a:ext cx="863193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86000"/>
            <a:ext cx="128016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408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Kurdi et al. (2020) — Int'l J. AI in Education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comprehensive comparative review of AQG methods, evaluation strategies, and domain coverage existed.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6334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systematic review of 93 AQG papers (1992–2018). Categorized by method, question type, and evaluation approach.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035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domain severely underrepresented. BLEU poorly correlates with expert quality. Neural methods surpass templates post-2015.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035808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predates BERT/GPT-2; no transformer-era analysis; no domain-specific failure mode discussion.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675888"/>
            <a:ext cx="8631936" cy="1261872"/>
          </a:xfrm>
          <a:prstGeom prst="rect">
            <a:avLst/>
          </a:prstGeom>
          <a:solidFill>
            <a:srgbClr val="FAE5D3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675888"/>
            <a:ext cx="128016" cy="12618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30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Lotfi et al. (2024) — IJCAI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4023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AQG system achieves consistent multi-specialty exam-readiness using KG-grounded generation.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40233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UMLS+DrugBank entity grounding → T5-XL generation → cross-encoder reranking. 25 physicians, 3 specialties.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4256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cross-specialty exam-readiness — highest in reviewed literature. Pharmacology: 75%, Pediatrics: 69%.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42569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is computationally expensive; KG subgraphs need specialty maintenance; no adaptive integration.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Identified Across All 12 Papers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2: Vishesh Patel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9611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96112"/>
            <a:ext cx="685800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2801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3272" y="9418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Hallucination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33272" y="12801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systems generate 7–12% clinically incorrect content (Ghanem 2022; Saha 2023). No automatic detection mechanism exists in the reviewed literature.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33272" y="17922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Directly dangerous in a medical training context — incorrect MCQs can reinforce clinical misinformation.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26771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267712"/>
            <a:ext cx="685800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2651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3272" y="23134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 Taxonomy Coverage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33272" y="26517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Wang (2022) attempts Bloom's conditioning. Generated item banks are overwhelmingly recall-level (L1), with application and reasoning levels (L3–L5) severely underrepresented.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33272" y="31638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Students over-practice low-stakes recall rather than the clinical reasoning tested in actual licensing exams.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363931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639312"/>
            <a:ext cx="685800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40233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3272" y="36850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Standardization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33272" y="40233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consensus protocol: BLEU/ROUGE correlate poorly with clinical quality (Kurdi 2020). Physician rater pools range from 5 to 25 across studies — far too small for statistical reliability.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33272" y="45354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Prevents meaningful cross-study comparison and slows the field's ability to measure real progress.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18304" y="89611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896112"/>
            <a:ext cx="685800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12801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95544" y="9418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Adaptive AQG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95544" y="12801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Bulut (2023) and Qu (2021) combine AQG with adaptive delivery. Neither implements a fully calibrated closed-loop pipeline with IRT + RL + feedback-driven generation.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95544" y="17922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Without adaptive integration, AQG tools remain isolated generators rather than personalized learning systems.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18304" y="2267712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18304" y="2267712"/>
            <a:ext cx="685800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2651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95544" y="231343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Cross-Specialty Generalizability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95544" y="265176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(Leo 2019, Wang 2022, Steuer 2021, Bitew 2022) target only internal medicine or general clinical knowledge. Radiology, pathology, and surgery are absent.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95544" y="31638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Clinical training programs span dozens of specialties; a non-generalizable AQG tool has limited real-world value.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68580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Project Builds Upon Existing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2801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3: Oluwasola Smith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Hybrid AQG Pipeline: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1298448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0F7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" y="126187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Text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UMLS KB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554480" y="14630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00784" y="1261872"/>
            <a:ext cx="1298448" cy="713232"/>
          </a:xfrm>
          <a:prstGeom prst="rect">
            <a:avLst/>
          </a:prstGeom>
          <a:solidFill>
            <a:srgbClr val="D6EAF8"/>
          </a:solidFill>
          <a:ln w="12700">
            <a:solidFill>
              <a:srgbClr val="0F7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0784" y="126187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99232" y="14630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45536" y="1261872"/>
            <a:ext cx="1298448" cy="713232"/>
          </a:xfrm>
          <a:prstGeom prst="rect">
            <a:avLst/>
          </a:prstGeom>
          <a:solidFill>
            <a:srgbClr val="D5F5E3"/>
          </a:solidFill>
          <a:ln w="12700">
            <a:solidFill>
              <a:srgbClr val="0F7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45536" y="126187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T5-XL MCQ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43984" y="14630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90288" y="1261872"/>
            <a:ext cx="1298448" cy="713232"/>
          </a:xfrm>
          <a:prstGeom prst="rect">
            <a:avLst/>
          </a:prstGeom>
          <a:solidFill>
            <a:srgbClr val="D5F5E3"/>
          </a:solidFill>
          <a:ln w="12700">
            <a:solidFill>
              <a:srgbClr val="0F7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0288" y="126187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88736" y="14630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1261872"/>
            <a:ext cx="1298448" cy="713232"/>
          </a:xfrm>
          <a:prstGeom prst="rect">
            <a:avLst/>
          </a:prstGeom>
          <a:solidFill>
            <a:srgbClr val="FEF9E7"/>
          </a:solidFill>
          <a:ln w="12700">
            <a:solidFill>
              <a:srgbClr val="0F7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26187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33488" y="1463040"/>
            <a:ext cx="164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79792" y="1261872"/>
            <a:ext cx="1298448" cy="713232"/>
          </a:xfrm>
          <a:prstGeom prst="rect">
            <a:avLst/>
          </a:prstGeom>
          <a:solidFill>
            <a:srgbClr val="FAE5D3"/>
          </a:solidFill>
          <a:ln w="12700">
            <a:solidFill>
              <a:srgbClr val="0F7A8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79792" y="1261872"/>
            <a:ext cx="12984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Calibration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RL Delivery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148840"/>
            <a:ext cx="51663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148840"/>
            <a:ext cx="5166360" cy="365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157984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" y="2633472"/>
            <a:ext cx="292608" cy="29260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9808" y="26060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UMLS-constrained T5-XL compare to unconstrained LLMs on hallucination rate and expert approval?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163824"/>
            <a:ext cx="292608" cy="29260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163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49808" y="313639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Bloom's taxonomy conditioning improve cognitive level diversity in generated item banks?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3694176"/>
            <a:ext cx="292608" cy="29260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9808" y="3666744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IRT-calibrated adaptive delivery improve licensing exam performance vs. static banks?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4224528"/>
            <a:ext cx="292608" cy="292608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9808" y="4197096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minimum labeled training data for reliable cross-specialty transfer of the AQG model?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914400"/>
            <a:ext cx="33375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6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77840" y="914400"/>
            <a:ext cx="3337560" cy="365760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92354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69280" y="1371600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MedMCQA (194K MCQs)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UUMLSLE Sample: 346 verified items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1920240"/>
            <a:ext cx="137160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19202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95160" y="1920240"/>
            <a:ext cx="64008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95160" y="19202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BLEU-4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35240" y="1920240"/>
            <a:ext cx="658368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35240" y="192024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93608" y="1920240"/>
            <a:ext cx="658368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93608" y="192024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623560" y="2395728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23957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Raamadhurai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(2019)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95160" y="2395728"/>
            <a:ext cx="640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23957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635240" y="2395728"/>
            <a:ext cx="65836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35240" y="239572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293608" y="2395728"/>
            <a:ext cx="65836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93608" y="2395728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623560" y="2871216"/>
            <a:ext cx="1371600" cy="438912"/>
          </a:xfrm>
          <a:prstGeom prst="rect">
            <a:avLst/>
          </a:prstGeom>
          <a:solidFill>
            <a:srgbClr val="F4F7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23560" y="2871216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 et al.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(2021)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995160" y="2871216"/>
            <a:ext cx="640080" cy="438912"/>
          </a:xfrm>
          <a:prstGeom prst="rect">
            <a:avLst/>
          </a:prstGeom>
          <a:solidFill>
            <a:srgbClr val="F4F7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95160" y="2871216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635240" y="2871216"/>
            <a:ext cx="658368" cy="438912"/>
          </a:xfrm>
          <a:prstGeom prst="rect">
            <a:avLst/>
          </a:prstGeom>
          <a:solidFill>
            <a:srgbClr val="F4F7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35240" y="2871216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8293608" y="2871216"/>
            <a:ext cx="658368" cy="438912"/>
          </a:xfrm>
          <a:prstGeom prst="rect">
            <a:avLst/>
          </a:prstGeom>
          <a:solidFill>
            <a:srgbClr val="F4F7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93608" y="2871216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623560" y="3346704"/>
            <a:ext cx="1371600" cy="438912"/>
          </a:xfrm>
          <a:prstGeom prst="rect">
            <a:avLst/>
          </a:prstGeom>
          <a:solidFill>
            <a:srgbClr val="E8F8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23560" y="3346704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T5-base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995160" y="3346704"/>
            <a:ext cx="640080" cy="438912"/>
          </a:xfrm>
          <a:prstGeom prst="rect">
            <a:avLst/>
          </a:prstGeom>
          <a:solidFill>
            <a:srgbClr val="E8F8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95160" y="334670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635240" y="3346704"/>
            <a:ext cx="658368" cy="438912"/>
          </a:xfrm>
          <a:prstGeom prst="rect">
            <a:avLst/>
          </a:prstGeom>
          <a:solidFill>
            <a:srgbClr val="E8F8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35240" y="334670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293608" y="3346704"/>
            <a:ext cx="658368" cy="438912"/>
          </a:xfrm>
          <a:prstGeom prst="rect">
            <a:avLst/>
          </a:prstGeom>
          <a:solidFill>
            <a:srgbClr val="E8F8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293608" y="334670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623560" y="3822192"/>
            <a:ext cx="1371600" cy="438912"/>
          </a:xfrm>
          <a:prstGeom prst="rect">
            <a:avLst/>
          </a:prstGeom>
          <a:solidFill>
            <a:srgbClr val="E8F8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623560" y="3822192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+UMLS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995160" y="3822192"/>
            <a:ext cx="640080" cy="438912"/>
          </a:xfrm>
          <a:prstGeom prst="rect">
            <a:avLst/>
          </a:prstGeom>
          <a:solidFill>
            <a:srgbClr val="E8F8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95160" y="382219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635240" y="3822192"/>
            <a:ext cx="658368" cy="438912"/>
          </a:xfrm>
          <a:prstGeom prst="rect">
            <a:avLst/>
          </a:prstGeom>
          <a:solidFill>
            <a:srgbClr val="E8F8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35240" y="382219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293608" y="3822192"/>
            <a:ext cx="658368" cy="438912"/>
          </a:xfrm>
          <a:prstGeom prst="rect">
            <a:avLst/>
          </a:prstGeom>
          <a:solidFill>
            <a:srgbClr val="E8F8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93608" y="382219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562356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UMLS validation: +5% expert approval, +5% distractor plausibility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560320"/>
            <a:ext cx="4114800" cy="4114800"/>
          </a:xfrm>
          <a:prstGeom prst="ellipse">
            <a:avLst/>
          </a:prstGeom>
          <a:solidFill>
            <a:srgbClr val="0F7A8A">
              <a:alpha val="18000"/>
            </a:srgbClr>
          </a:solidFill>
          <a:ln w="12700">
            <a:solidFill>
              <a:srgbClr val="0F7A8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731520"/>
            <a:ext cx="6858000" cy="36576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68680"/>
            <a:ext cx="73152" cy="530352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68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1: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11556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now dominate AQG — but 7–12% hallucination in LLM systems remains a critical unresolved safety issue for clinical use.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673352"/>
            <a:ext cx="73152" cy="530352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733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2: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quality is the single hardest component; KG-grounded systems (Lotfi 2024, LEAF 2022) achieve best results but require maintained specialty subgraphs.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478024"/>
            <a:ext cx="73152" cy="530352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78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3: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24912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AQG (Bulut 2023, Qu 2021) measurably improves outcomes (+19%) — but no closed-loop pipeline has been published.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282696"/>
            <a:ext cx="73152" cy="530352"/>
          </a:xfrm>
          <a:prstGeom prst="rect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826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4: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529584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remains fragmented — no shared benchmark, no consensus physician rating protocol, making cross-study comparison unreliable.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4087368"/>
            <a:ext cx="73152" cy="5303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873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33425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T5-XL + UMLS validation + Bloom's classifier + IRT-RL adaptive delivery — the first full end-to-end closed-loop AQG pipeline for medical education.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solidFill>
            <a:srgbClr val="0F7A8A">
              <a:alpha val="40000"/>
            </a:srgbClr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718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①  Full T5-XL training on MedMCQA   ②  Bloom's classifier fine-tuning   ③  IRT pilot with 50 students   ④  Multi-specialty physician validation (30+ raters)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"/>
            <a:ext cx="8503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(APA Format)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96112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Bitew, S. K., Deleu, J., Develder, C., &amp; Demeester, T. (2022). Learning to generate questions by learning to recover answer-containing sentences. Findings of ACL 2022 (pp. 2920–2930). ACL.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664208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7276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Bulut, O., Cutumisu, M., Gao, Y., &amp; Singh, G. (2023). AI-enhanced assessment in health professions education. Medical Education Online, 28(1), 2156429.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2340864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49424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Ghanem, B., Rosso, P., &amp; Rangel, F. (2022). Medical question generation using GPT-based LLMs. IEEE ICHI 2022 (pp. 34–43).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3017520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926080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Kurdi, G., Leo, J., Parsia, B., Sattler, U., &amp; Al-Emari, S. (2020). A systematic review of automatic question generation. Int'l J. AI in Education, 30(1), 121–204.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3694176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602736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Leo, J., Kurdi, G., Matentzoglu, N., et al. (2019). Ontology-based generation of medical, multi-term MCQs. Int'l J. AI in Education, 29(2), 145–188.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4370832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279392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Lotfi, A., Minaee, S., &amp; Rahimi, R. (2024). Knowledge-graph-enhanced MCQ generation for clinical medical training. IJCAI 2024 (pp. 4502–4510).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18304" y="987552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2624" y="896112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Qu, Y., Liu, J., &amp; Shi, X. (2021). Knowledge-tracing-driven question generation for adaptive learning in medical education. AIED 2021, LNCS 12749 (pp. 323–335).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18304" y="1664208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92624" y="157276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Raamadhurai, S., Baker, R., &amp; Poduval, V. (2019). MCQ generation using NLP for medical licensing examination preparation. BEA Workshop @ ACL 2019 (pp. 92–101).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18304" y="2340864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2249424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Saha, S., Pal, U., &amp; Naskar, S. K. (2023). Automated medical exam question generation using LLMs with chain-of-thought prompting. AAAI Workshop AIEd 2023 (pp. 58–67).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18304" y="3017520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2926080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Steuer, T., Filighera, A., &amp; Rensing, C. (2021). Automatic MCQ generation from medical text using pre-trained LMs. IEEE EDUCON 2021 (pp. 1408–1415).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18304" y="3694176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3602736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Vachev, K., Hardalov, M., Karadzhov, G., et al. (2022). LEAF: Multiple-choice question generation. EMNLP 2022 (pp. 117–131). ACL.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18304" y="4370832"/>
            <a:ext cx="201168" cy="201168"/>
          </a:xfrm>
          <a:prstGeom prst="ellipse">
            <a:avLst/>
          </a:prstGeom>
          <a:solidFill>
            <a:srgbClr val="0F7A8A"/>
          </a:solidFill>
          <a:ln w="12700">
            <a:solidFill>
              <a:srgbClr val="0F7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279392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Z., Lan, A. S., Nie, P., et al. (2022). Towards human-level automatic question generation. NAACL-HLT 2022 (pp. 517–531). ACL.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641080" y="4773168"/>
            <a:ext cx="347472" cy="34747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4773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2338</Words>
  <Application>Microsoft Office PowerPoint</Application>
  <PresentationFormat>On-screen Show (16:9)</PresentationFormat>
  <Paragraphs>264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Vandan Patel</cp:lastModifiedBy>
  <cp:revision>3</cp:revision>
  <dcterms:created xsi:type="dcterms:W3CDTF">2026-03-11T02:28:51Z</dcterms:created>
  <dcterms:modified xsi:type="dcterms:W3CDTF">2026-03-11T03:01:10Z</dcterms:modified>
</cp:coreProperties>
</file>