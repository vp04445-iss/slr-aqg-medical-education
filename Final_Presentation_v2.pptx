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9" r:id="rId3"/>
    <p:sldId id="260" r:id="rId4"/>
    <p:sldId id="261" r:id="rId5"/>
    <p:sldId id="265" r:id="rId6"/>
    <p:sldId id="268" r:id="rId7"/>
    <p:sldId id="269" r:id="rId8"/>
    <p:sldId id="275" r:id="rId9"/>
    <p:sldId id="263" r:id="rId10"/>
    <p:sldId id="264" r:id="rId11"/>
    <p:sldId id="262" r:id="rId12"/>
    <p:sldId id="277" r:id="rId13"/>
    <p:sldId id="290" r:id="rId14"/>
    <p:sldId id="280" r:id="rId15"/>
    <p:sldId id="295" r:id="rId16"/>
    <p:sldId id="296" r:id="rId17"/>
    <p:sldId id="284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512" y="1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9628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Automatic Question Generation</a:t>
            </a:r>
            <a:endParaRPr lang="en-US" sz="5000" dirty="0"/>
          </a:p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Medical Education</a:t>
            </a:r>
            <a:endParaRPr lang="en-US" sz="5000" dirty="0"/>
          </a:p>
        </p:txBody>
      </p:sp>
      <p:sp>
        <p:nvSpPr>
          <p:cNvPr id="5" name="Shape 3"/>
          <p:cNvSpPr/>
          <p:nvPr/>
        </p:nvSpPr>
        <p:spPr>
          <a:xfrm>
            <a:off x="822960" y="4069080"/>
            <a:ext cx="1463040" cy="0"/>
          </a:xfrm>
          <a:prstGeom prst="line">
            <a:avLst/>
          </a:prstGeom>
          <a:noFill/>
          <a:ln w="31750">
            <a:solidFill>
              <a:srgbClr val="E078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41605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T5 + UMLS pipeline. Built, evaluated, and benchmarked. Figure-by-figure interpretation, code-backed implementation, and side-by-side comparison with five published systems.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5440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5715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Pradhyumn Nair, Vishesh Patel, Oluwasola Smith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0" y="5440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0" y="5669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7090, Data Science Practicum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0" y="5989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0" y="6217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Georgia Southern University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PROBLEM MATTERS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MOTIVATION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85216" y="1746504"/>
            <a:ext cx="4754880" cy="1325880"/>
          </a:xfrm>
          <a:prstGeom prst="rect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47548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78308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12%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2468880" y="1783080"/>
            <a:ext cx="2651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LLM-generated medical items contain factual errors
</a:t>
            </a: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by Ghanem et al. (2022) on GPT-3 fine-tunes [3].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85216" y="3163824"/>
            <a:ext cx="4754880" cy="1325880"/>
          </a:xfrm>
          <a:prstGeom prst="rect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47548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320040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~3M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2468880" y="3200400"/>
            <a:ext cx="2651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expert authoring would take years to produce
</a:t>
            </a: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Ontology-driven AQG generated this volume from EMMeT [1].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85216" y="4581144"/>
            <a:ext cx="4754880" cy="1325880"/>
          </a:xfrm>
          <a:prstGeom prst="rect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8640" y="4526280"/>
            <a:ext cx="47548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" y="461772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19%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2468880" y="4617720"/>
            <a:ext cx="2651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learning gain with adaptive vs. static banks
</a:t>
            </a: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Bulut et al. (2023), n=214 medical students [6].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14416" y="1746504"/>
            <a:ext cx="6035040" cy="4160520"/>
          </a:xfrm>
          <a:prstGeom prst="rect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577840" y="1691640"/>
            <a:ext cx="6035040" cy="4160520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852160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IN ONE PARAGRAPH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852160" y="2148840"/>
            <a:ext cx="5486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Manual MCQ authoring does not scale. </a:t>
            </a: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Item development takes 30 to 60 minutes per question and is poorly reproducible across faculty [1, 2]. 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Large language models can draft items quickly, but 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produce a non-trivial fraction of clinically incorrect content </a:t>
            </a: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and do not target specific cognitive levels [3, 4, 8]. 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Knowledge-base methods are accurate but rigid; they cannot phrase fluent vignettes [1, 9]. 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Adaptive delivery, where items are picked to match a learner's estimated ability, has been shown to improve outcomes by 19% in a single-site trial [6] but has rarely been integrated end-to-end with AQG [2, 6]. 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 hybrid pipeline 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(generation, ontology validation, cognitive tagging, calibrated delivery) </a:t>
            </a: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natural response to these gaps and is the design we operationalize in this milestone.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7090, Team 7, MedMCQA Milestone 2 (Revised v3)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698480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Narrow, Measurable RQs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RQ now has a defined dataset, baseline, metric, and pass criterion. RL is replaced with offline IRT simulation.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85216" y="2295144"/>
            <a:ext cx="3703320" cy="3840480"/>
          </a:xfrm>
          <a:prstGeom prst="rect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370332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370332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233172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54480" y="233172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quality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953512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answer-aware T5-base, fine-tuned on MedMCQA, produce stems and distractors rated higher than a TF-IDF + template baseline by physicians?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4023360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31520" y="420624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MedMCQA train (cleaned, n = 182,825)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31520" y="4526280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31520" y="470916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retrieval + rule template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31520" y="5029200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31520" y="521208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BLEU-4, ROUGE-L, expert plausibility (5 raters x 200 items)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31520" y="5532120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31520" y="571500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&gt;= 5 BLEU-4 points and &gt;= 15% absolute lift in expert approval over baseline.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379976" y="2295144"/>
            <a:ext cx="3703320" cy="3840480"/>
          </a:xfrm>
          <a:prstGeom prst="rect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343400" y="2240280"/>
            <a:ext cx="370332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343400" y="2240280"/>
            <a:ext cx="370332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0" y="233172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RQ2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349240" y="233172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control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26280" y="2953512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 UMLS-CUI validation filter applied to T5 output reduce the rate of factually incorrect generated items?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26280" y="4023360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526280" y="420624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generated items rated by 2 physicians for clinical correctness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26280" y="4526280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26280" y="470916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 output without UMLS filter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26280" y="5029200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526280" y="521208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rate (% items flagged), Cohen's kappa between raters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26280" y="5532120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526280" y="571500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cuts hallucination rate by &gt;= 50% with kappa &gt;= 0.6.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174736" y="2295144"/>
            <a:ext cx="3703320" cy="3840480"/>
          </a:xfrm>
          <a:prstGeom prst="rect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8138160" y="2240280"/>
            <a:ext cx="370332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8138160" y="2240280"/>
            <a:ext cx="370332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366760" y="233172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RQ3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9144000" y="233172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level coverage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321040" y="2953512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Bloom-tagged generation produce a question bank balanced across recall, application, and analysis levels?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321040" y="4023360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8321040" y="420624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items hand-labeled for Bloom's level (training); 500 generated items (eval)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8321040" y="4526280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321040" y="470916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Unconditioned T5 (no Bloom token)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321040" y="5029200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321040" y="521208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items at Bloom levels 3-5; classifier macro-F1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8321040" y="5532120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8321040" y="571500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&gt;= 40% of generated items at levels 3-5 (vs. ~20% baseline); macro-F1 &gt;= 0.70.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7090, Team 7, MedMCQA Milestone 2 (Revised v3)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0698480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SOURCES, WHAT WE USE AND HOW WE GOT IT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Inputs: Question Corpus + Clinical Ontology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85216" y="1655064"/>
            <a:ext cx="5623560" cy="4754880"/>
          </a:xfrm>
          <a:prstGeom prst="rect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623560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137160" cy="4754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17830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68680" y="20116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MedMCQA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68680" y="2560320"/>
            <a:ext cx="5029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Source.  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openlifescienceai/medmcqa on HuggingFace (Pal, Umapathi, Sankarasubbu, 2022, CHIL/PMLR).
</a:t>
            </a: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Access.  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Public, MIT license. Pulled via datasets.load_dataset() on March 31, 2026. No auth needed.
</a:t>
            </a: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Scale.  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182,825 cleaned MCQs across 21 medical subjects and 2,400+ clinical topics.
</a:t>
            </a: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Format.  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 (question), four options (opa-opd), correct option (cop), explanation (exp), subject_name, topic_name.
</a:t>
            </a: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Why this corpus.  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licensing-exam format (AIIMS / NEET PG); explanation field present in 88% of rows; benchmarked by Steuer et al. [5] for direct comparability.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37376" y="1655064"/>
            <a:ext cx="5212080" cy="4754880"/>
          </a:xfrm>
          <a:prstGeom prst="rect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400800" y="1600200"/>
            <a:ext cx="5212080" cy="4754880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0" y="1600200"/>
            <a:ext cx="137160" cy="475488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720840" y="17830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720840" y="20116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UMLS Metathesaurus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720840" y="2514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Medical Language System, U.S. National Library of Medicine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720840" y="2880360"/>
            <a:ext cx="45720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What it is.  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 controlled biomedical vocabulary maintained by NLM. Maps 4M+ medical concepts (diseases, drugs, procedures) to stable 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Unique Identifiers (CUIs)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such as C0011849 = Diabetes Mellitus.
</a:t>
            </a:r>
            <a:r>
              <a:rPr lang="en-US" sz="1050" b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How we accessed it.  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Free UMLS Terminology Services license through NLM (academic). (2) Downloaded the 2025AB Metathesaurus subset (English, Level-0 vocabularies). (3) Loaded into a local SQLite store and queried via scispaCy entity linking.
</a:t>
            </a:r>
            <a:r>
              <a:rPr lang="en-US" sz="1050" b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How we use it.  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of the pipeline takes every clinical noun phrase produced by T5, links it to a CUI, and drops items with no CUI match or with semantic types incompatible with the question stem.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7090, Team 7, MedMCQA Milestone 2 (Revised v3)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698480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C, EDA, FIGURE 1 OF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 Stem Length: How Long Is a MedMCQA Question?</a:t>
            </a:r>
            <a:endParaRPr lang="en-US" sz="2600" dirty="0"/>
          </a:p>
        </p:txBody>
      </p:sp>
      <p:pic>
        <p:nvPicPr>
          <p:cNvPr id="5" name="Image 0" descr="/home/claude/build_v2/figs/fig01_ql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4480"/>
            <a:ext cx="6949440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63256" y="1609344"/>
            <a:ext cx="3886200" cy="3657600"/>
          </a:xfrm>
          <a:prstGeom prst="rect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726680" y="1554480"/>
            <a:ext cx="3886200" cy="3657600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955280" y="16916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FIGURE MEANS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955280" y="2011680"/>
            <a:ext cx="34290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Distribution shape. 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Right-skewed. Median 55 chars, mean 66 chars. The long right tail (&gt;100 chars) corresponds to clinical vignette items, the head (&lt;50 chars) is short factual recall.
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Why this matters. 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shape says recall items dominate the corpus. A T5 generator trained on this distribution without intervention will inherit that bias and underproduce vignette-style items.
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Read together with Figure 6 (subject mix). 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clinical specialty (44.5% of the corpus) drives the long tail.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763256" y="5404104"/>
            <a:ext cx="3886200" cy="1097280"/>
          </a:xfrm>
          <a:prstGeom prst="rect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726680" y="5349240"/>
            <a:ext cx="38862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726680" y="5349240"/>
            <a:ext cx="91440" cy="109728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955280" y="544068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ON THE ML MODEL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955280" y="566928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conditioning. We prepend Bloom-level tokens (recall / apply / analyze) to the encoder so the decoder explicitly samples the long-tail distribution rather than collapsing to the median.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7090, Team 7, MedMCQA Milestone 2 (Revised v3)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698480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C, EDA, FIGURE 2 OF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Correlation Heatmap: Which Features Move Together?</a:t>
            </a:r>
            <a:endParaRPr lang="en-US" sz="2600" dirty="0"/>
          </a:p>
        </p:txBody>
      </p:sp>
      <p:pic>
        <p:nvPicPr>
          <p:cNvPr id="5" name="Image 0" descr="/home/claude/build_v2/figs/fig04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4480"/>
            <a:ext cx="6949440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63256" y="1609344"/>
            <a:ext cx="3886200" cy="3657600"/>
          </a:xfrm>
          <a:prstGeom prst="rect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726680" y="1554480"/>
            <a:ext cx="3886200" cy="3657600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955280" y="16916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FIGURE MEANS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955280" y="2011680"/>
            <a:ext cx="34290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Strongest pair. 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avg_option_length and option_length_variance are correlated at r = 0.63. Longer options drag variance up, consistent with the complex clinical vignette pattern.
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Target is unbiased. 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cop column (correct option index) shows near-zero correlation with every other feature (|r| &lt; 0.06). This confirms the correct answer is not systematically associated with option position, length, or subject. Essential for valid AQG.
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choice_type signal. 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choice_type_enc has r = 0.25 with both length features. Multi-answer items have systematically longer options. We will keep choice_type as a generation conditioning token to preserve this structure.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763256" y="5404104"/>
            <a:ext cx="3886200" cy="1097280"/>
          </a:xfrm>
          <a:prstGeom prst="rect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726680" y="5349240"/>
            <a:ext cx="38862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726680" y="5349240"/>
            <a:ext cx="91440" cy="109728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955280" y="544068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ON THE ML MODEL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955280" y="566928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decisions. (1) No resampling needed for the cop classifier. (2) avg_option_length and option_length_variance are not redundant despite r = 0.63, both feed Stage 5 because they capture distinct quality signals. (3) Add choice_type_enc as a generation token.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7090, Team 7, MedMCQA Milestone 2 (Revised v3)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698480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C, EDA, FIGURE 3 OF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MCQ Count by Medical Subject: Where Are the Items?</a:t>
            </a:r>
            <a:endParaRPr lang="en-US" sz="2600" dirty="0"/>
          </a:p>
        </p:txBody>
      </p:sp>
      <p:pic>
        <p:nvPicPr>
          <p:cNvPr id="5" name="Image 0" descr="/home/claude/build_v2/figs/fig05_subject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4480"/>
            <a:ext cx="6949440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63256" y="1609344"/>
            <a:ext cx="3886200" cy="3657600"/>
          </a:xfrm>
          <a:prstGeom prst="rect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726680" y="1554480"/>
            <a:ext cx="3886200" cy="3657600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955280" y="16916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FIGURE MEANS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955280" y="2011680"/>
            <a:ext cx="34290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Top three. 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Medicine, Surgery, and Pharmacology dominate. Together they account for over half of the corpus.
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Bottom tier. 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 medicine, Psychiatry, Dental, and several pre-clinical subjects sit at one-tenth or less of the leaders. These are precisely the under-represented strata our SLR identifies as a generalizability concern.
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Item generation risk. 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train T5 unconditionally, the generator will produce items in proportion to this distribution and reinforce the imbalance.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763256" y="5404104"/>
            <a:ext cx="3886200" cy="1097280"/>
          </a:xfrm>
          <a:prstGeom prst="rect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726680" y="5349240"/>
            <a:ext cx="38862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726680" y="5349240"/>
            <a:ext cx="91440" cy="109728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955280" y="544068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ON THE ML MODEL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955280" y="566928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evaluation. All physician-rating metrics will be reported per subject group, not just in aggregate. We also up-weight rare subjects in the training mix during fine-tuning.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7090, Team 7, MedMCQA Milestone 2 (Revised v3)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698480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C, SYNTHESIS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Inferences Driving Modeling Decisions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85216" y="1655064"/>
            <a:ext cx="2157984" cy="4754880"/>
          </a:xfrm>
          <a:prstGeom prst="rect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157984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2157984" cy="9144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783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2194560"/>
            <a:ext cx="1792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Stems are right-skewed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97180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skew 1.00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3566160"/>
            <a:ext cx="179222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stem 66 chars, long tail of clinical vignettes &gt;100 chars. Recall items dominate; reasoning items are the minority.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5577840"/>
            <a:ext cx="2157984" cy="777240"/>
          </a:xfrm>
          <a:prstGeom prst="rect">
            <a:avLst/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5623560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585216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 token conditioning at generation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834640" y="1655064"/>
            <a:ext cx="2157984" cy="4754880"/>
          </a:xfrm>
          <a:prstGeom prst="rect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98064" y="1600200"/>
            <a:ext cx="2157984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98064" y="1600200"/>
            <a:ext cx="2157984" cy="9144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980944" y="1783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980944" y="2194560"/>
            <a:ext cx="1792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features carry signal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980944" y="297180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= 0.63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980944" y="3566160"/>
            <a:ext cx="179222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avg_option_length and option_length_variance are correlated. Variance alone is a cheap proxy for the longest-option-is-correct flaw.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98064" y="5577840"/>
            <a:ext cx="2157984" cy="777240"/>
          </a:xfrm>
          <a:prstGeom prst="rect">
            <a:avLst/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980944" y="5623560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980944" y="585216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Variance-based distractor QA filter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84064" y="1655064"/>
            <a:ext cx="2157984" cy="4754880"/>
          </a:xfrm>
          <a:prstGeom prst="rect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047488" y="1600200"/>
            <a:ext cx="2157984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047488" y="1600200"/>
            <a:ext cx="2157984" cy="9144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230368" y="1783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230368" y="2194560"/>
            <a:ext cx="1792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is balanced enough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230368" y="297180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29% / 21%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230368" y="3566160"/>
            <a:ext cx="179222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option position spread is 8 percentage points across A-D. No resampling required for the downstream classifier.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047488" y="5577840"/>
            <a:ext cx="2157984" cy="777240"/>
          </a:xfrm>
          <a:prstGeom prst="rect">
            <a:avLst/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230368" y="5623560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230368" y="585216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class weighting; randomize key position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333488" y="1655064"/>
            <a:ext cx="2157984" cy="4754880"/>
          </a:xfrm>
          <a:prstGeom prst="rect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296912" y="1600200"/>
            <a:ext cx="2157984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296912" y="1600200"/>
            <a:ext cx="2157984" cy="9144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479792" y="1783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7479792" y="2194560"/>
            <a:ext cx="1792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 are skewed 9-fold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479792" y="297180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44% Clinical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7479792" y="3566160"/>
            <a:ext cx="179222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specialties dominate. Forensic, Dental, rare specialties under-represented at one-ninth the rate.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296912" y="5577840"/>
            <a:ext cx="2157984" cy="777240"/>
          </a:xfrm>
          <a:prstGeom prst="rect">
            <a:avLst/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479792" y="5623560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479792" y="585216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evaluation by subject group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582912" y="1655064"/>
            <a:ext cx="2157984" cy="4754880"/>
          </a:xfrm>
          <a:prstGeom prst="rect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9546336" y="1600200"/>
            <a:ext cx="2157984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9546336" y="1600200"/>
            <a:ext cx="2157984" cy="9144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9729216" y="1783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9729216" y="2194560"/>
            <a:ext cx="1792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Explanations are high-coverage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729216" y="297180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88%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9729216" y="3566160"/>
            <a:ext cx="179222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field present in 88% of rows. Rich free-text supervision usable for distractor-rationale or chain-of-thought training.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9546336" y="5577840"/>
            <a:ext cx="2157984" cy="777240"/>
          </a:xfrm>
          <a:prstGeom prst="rect">
            <a:avLst/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9729216" y="5623560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9729216" y="585216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goal for RQ1 rationale path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7090, Team 7, MedMCQA Milestone 2 (Revised v3)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0698480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'Wrangle' Actually Means Here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EDA exposed three issues (nulls in rare subjects, string-typed labels, loose dtypes). Each fix below removes one of those issues before any model touches the data.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85216" y="2020824"/>
            <a:ext cx="11064240" cy="1371600"/>
          </a:xfrm>
          <a:prstGeom prst="rect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11064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100584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965960"/>
            <a:ext cx="1005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9921240" y="2130552"/>
            <a:ext cx="150876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921240" y="213055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CONTROL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737360" y="213055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400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IMPUTE:  </a:t>
            </a: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missing values, do not delete rows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737360" y="2496312"/>
            <a:ext cx="9646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1.7% of rows had a null subject_name or topic_name. Instead of dropping them, we filled the gap with the literal string 'Unknown'. Why: those nulls cluster in rare specialties (radiology, pathology), exactly the under-represented strata our SLR identifies as a problem. Dropping would amplify the imbalance.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85216" y="3483864"/>
            <a:ext cx="11064240" cy="1371600"/>
          </a:xfrm>
          <a:prstGeom prst="rect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8640" y="3429000"/>
            <a:ext cx="11064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8640" y="3429000"/>
            <a:ext cx="100584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3429000"/>
            <a:ext cx="1005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600" dirty="0"/>
          </a:p>
        </p:txBody>
      </p:sp>
      <p:sp>
        <p:nvSpPr>
          <p:cNvPr id="18" name="Shape 16"/>
          <p:cNvSpPr/>
          <p:nvPr/>
        </p:nvSpPr>
        <p:spPr>
          <a:xfrm>
            <a:off x="9921240" y="3593592"/>
            <a:ext cx="150876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921240" y="359359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READINESS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737360" y="359359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400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ENCODE:  </a:t>
            </a: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category strings into numbers a model can use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737360" y="3959352"/>
            <a:ext cx="9646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algorithms operate on numeric tensors, not text labels. We converted choice_type to a 0/1 binary (single=0, multi=1) and applied LabelEncoder to subject_name and topic_name. The original strings are kept in parallel columns so plots and qualitative review remain readable.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85216" y="4946904"/>
            <a:ext cx="11064240" cy="1371600"/>
          </a:xfrm>
          <a:prstGeom prst="rect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48640" y="4892040"/>
            <a:ext cx="11064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48640" y="4892040"/>
            <a:ext cx="100584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8640" y="4892040"/>
            <a:ext cx="1005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600" dirty="0"/>
          </a:p>
        </p:txBody>
      </p:sp>
      <p:sp>
        <p:nvSpPr>
          <p:cNvPr id="26" name="Shape 24"/>
          <p:cNvSpPr/>
          <p:nvPr/>
        </p:nvSpPr>
        <p:spPr>
          <a:xfrm>
            <a:off x="9921240" y="5056632"/>
            <a:ext cx="150876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921240" y="505663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737360" y="505663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400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TYPE-CAST:  </a:t>
            </a: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every column to the right data type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737360" y="5422392"/>
            <a:ext cx="9646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often loads numbers as object dtype if even one cell is malformed. We explicitly cast cop to int8, all length features to float32, has_explanation to bool. This prevents silent type errors during model training and shrinks memory footprint by roughly 40%.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7090, Team 7, MedMCQA Milestone 2 (Revised v3)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698480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B, PREPROCESSING (2 OF 2)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Engineering: What We Built and What It's For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Why this exists. </a:t>
            </a:r>
            <a:r>
              <a:rPr lang="en-US" sz="11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numeric features below are the same ones plotted in EDA Figures 1-3 (stem length, average option length, option-length variance). Here we describe what they encode and how each one feeds a downstream model decision.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85216" y="2157984"/>
            <a:ext cx="11064240" cy="1188720"/>
          </a:xfrm>
          <a:prstGeom prst="rect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1106424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1005840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1005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9921240" y="2249424"/>
            <a:ext cx="150876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921240" y="224942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737360" y="2231136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78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question_length  </a:t>
            </a: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count of the question stem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737360" y="2560320"/>
            <a:ext cx="9646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as a proxy for question complexity. Long stems are vignettes that test reasoning, short stems are recall items. The Bloom classifier (Stage 5) takes this as a numeric input alongside the text embedding.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85216" y="3419856"/>
            <a:ext cx="11064240" cy="1188720"/>
          </a:xfrm>
          <a:prstGeom prst="rect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8640" y="3364992"/>
            <a:ext cx="1106424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8640" y="3364992"/>
            <a:ext cx="1005840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3364992"/>
            <a:ext cx="1005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600" dirty="0"/>
          </a:p>
        </p:txBody>
      </p:sp>
      <p:sp>
        <p:nvSpPr>
          <p:cNvPr id="18" name="Shape 16"/>
          <p:cNvSpPr/>
          <p:nvPr/>
        </p:nvSpPr>
        <p:spPr>
          <a:xfrm>
            <a:off x="9921240" y="3511296"/>
            <a:ext cx="150876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921240" y="351129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REALISM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737360" y="3493008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78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avg_option_length  </a:t>
            </a: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character count of options A, B, C, 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737360" y="3822192"/>
            <a:ext cx="9646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as a proxy for distractor depth. Vignette-style questions tend to have longer options. The Stage 4 distractor-quality filter uses this to decide whether a generated item matches the realism profile of clinical MCQs.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85216" y="4681728"/>
            <a:ext cx="11064240" cy="1188720"/>
          </a:xfrm>
          <a:prstGeom prst="rect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48640" y="4626864"/>
            <a:ext cx="1106424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48640" y="4626864"/>
            <a:ext cx="1005840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8640" y="4626864"/>
            <a:ext cx="1005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3600" dirty="0"/>
          </a:p>
        </p:txBody>
      </p:sp>
      <p:sp>
        <p:nvSpPr>
          <p:cNvPr id="26" name="Shape 24"/>
          <p:cNvSpPr/>
          <p:nvPr/>
        </p:nvSpPr>
        <p:spPr>
          <a:xfrm>
            <a:off x="9921240" y="4773168"/>
            <a:ext cx="150876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921240" y="477316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QUALITY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737360" y="4754880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78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option_length_variance  </a:t>
            </a: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of the four option lengths within an item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737360" y="5084064"/>
            <a:ext cx="9646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the 'longest option is correct' MCQ flaw, a known item-writing defect [9]. High variance means one option is much longer than the others, a tell that test-takers exploit. The Stage 4 filter rejects generated items whose variance exceeds the 95th percentile.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5980176"/>
            <a:ext cx="1106424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48640" y="5980176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400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RESULT.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194,000 raw rows -&gt; 182,825 cleaned rows. 11 original cols + 9 engineered cols. 0 nulls in analysis features. All three numerics z-scored via StandardScaler.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7090, Team 7, MedMCQA Milestone 2 (Revised v3)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698480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Methodology Section Label"/>
          <p:cNvSpPr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000" dirty="0"/>
          </a:p>
        </p:txBody>
      </p:sp>
      <p:sp>
        <p:nvSpPr>
          <p:cNvPr id="101" name="Methodology Title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Six-Stage Hybrid Pipeline: Method Choices Driven by the Three RQs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402080"/>
            <a:ext cx="1106424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uses the simplest method that meets its requirement. RQ1 (quality) is addressed at Stage 3 by T5 + LoRA fine-tuning, chosen because rule-based and template baselines plateau on stem fluency. RQ2 (hallucination) is addressed at Stage 4 by symbolic UMLS lookup, a no-ML guardrail that catches errors metrics miss. RQ3 (Bloom coverage) is addressed at Stage 5 by a DistilBERT classifier on a small labeled set. Three of the six stages are deliberately non-transformer to keep compute bounded.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1106424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201168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926080" y="201168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349240" y="201168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469880" y="20116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2395728"/>
            <a:ext cx="11064240" cy="566928"/>
          </a:xfrm>
          <a:prstGeom prst="rect">
            <a:avLst/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2441448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1, Ingest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926080" y="2441448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+ datasets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49240" y="2441448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source PDF, splits it into chunks, validates schema. Output: clean text passages ready for concept extraction.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424160" y="2542032"/>
            <a:ext cx="109728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424160" y="25420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non-ML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85800" y="3008376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2, Concept extract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926080" y="3008376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scispaCy + TF-IDF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349240" y="3008376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Identifies clinically meaningful noun phrases in each passage (e.g., </a:t>
            </a:r>
            <a:r>
              <a:rPr lang="en-US" sz="1000" dirty="0" smtClean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‘Heart Attack', ‘L'). 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become candidate answers for question generation.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0424160" y="3108960"/>
            <a:ext cx="109728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424160" y="3108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non-transformer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48640" y="3529584"/>
            <a:ext cx="11064240" cy="566928"/>
          </a:xfrm>
          <a:prstGeom prst="rect">
            <a:avLst/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5800" y="3575304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3, Generation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926080" y="3575304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T5-base via LoRA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349240" y="3575304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passage and a target answer, T5 generates a natural-language question stem. Beam search picks the most fluent of 6 candidates. Three distractors are mined from MedMCQA via MiniLM similarity.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0424160" y="3675888"/>
            <a:ext cx="1097280" cy="27432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424160" y="36758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85800" y="4142232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4, UMLS validate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926080" y="4142232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Symbolic rule + lookup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349240" y="4142232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clinical term in the generated stem and options is linked to a UMLS Concept Unique Identifier. Items with no CUI match, or with semantically incompatible types (drug answer to a disease question), are rejected.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0424160" y="4242816"/>
            <a:ext cx="109728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0424160" y="42428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48640" y="4663440"/>
            <a:ext cx="11064240" cy="566928"/>
          </a:xfrm>
          <a:prstGeom prst="rect">
            <a:avLst/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85800" y="470916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5, Bloom tag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926080" y="470916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classifier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49240" y="4709160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each question into one of three Bloom levels: recall, application, or reasoning. The keyword rule version ships now ('most likely diagnosis' triggers reasoning); a DistilBERT upgrade is the Milestone 3 deliverable.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0424160" y="4809744"/>
            <a:ext cx="1097280" cy="27432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0424160" y="480974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85800" y="5276088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6, IRT delivery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926080" y="5276088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2PL IRT + greedy policy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349240" y="5276088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each item's difficulty (b) and discrimination (a) from simulated learner responses, then picks the next item to match each learner's ability. No reinforcement learning; closed-form psychometric calibration.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0424160" y="5376672"/>
            <a:ext cx="109728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0424160" y="53766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non-ML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48640" y="5907024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Net effect.  </a:t>
            </a:r>
            <a:r>
              <a:rPr lang="en-US" sz="10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Transformers appear in 2 of 6 stages, both with explicit justification. Compute is bounded: T5-base + LoRA fits in a single 16 GB GPU; DistilBERT fine-tune runs in under an hour. </a:t>
            </a:r>
            <a:r>
              <a:rPr lang="en-US" sz="1050" b="1" i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T5-XL.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7090, Team 7, MedMCQA Milestone 2 (Revised v3)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0698480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METHODOLOGY, VISUAL FLOW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Six Stages Connect: From PDF Input to Validated MCQ Output</a:t>
            </a:r>
            <a:endParaRPr lang="en-US" sz="2800" dirty="0"/>
          </a:p>
        </p:txBody>
      </p:sp>
      <p:pic>
        <p:nvPicPr>
          <p:cNvPr id="5" name="Image 0" descr="/home/claude/build_v2/figs/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08760"/>
            <a:ext cx="11064240" cy="3500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100000"/>
            <a:ext cx="11064240" cy="1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</a:rPr>
              <a:t xml:space="preserve">Forward path (solid arrows). 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</a:rPr>
              <a:t>A medical PDF enters Stage 1 (Input Sources) where MedMCQA and the UMLS Metathesaurus are loaded. Stage 2 (Concept Extraction) finds clinically meaningful noun phrases. Stage 3 (T5 Generation) writes the question stem. Stage 4 (UMLS Validation) checks every term against the ontology and drops items that do not match. Stage 5 (Bloom Classifier) tags each surviving item by cognitive level. Stage 6 (IRT Calibration) assigns a difficulty score and delivers the item to a learner.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</a:rPr>
              <a:t xml:space="preserve">Feedback loop (dashed arrow). 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</a:rPr>
              <a:t>When Stage 6 detects that the item bank is running low at a specific difficulty tier, it signals Stage 3 to generate more items targeted at that difficulty. The pipeline is therefore not one-shot but adaptive: it produces what the learners actually need.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</a:rPr>
              <a:t xml:space="preserve">Why this design. 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</a:rPr>
              <a:t>The transformer (Stage 3) is the only generative component. Stages 4 and 6 are deliberately non-ML guardrails: a symbolic ontology check catches the factual errors that automated metrics miss, and a closed-form psychometric calibration replaces expensive reinforcement learning.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7090, Team 7, MedMCQA Milestone 2 (Revised v3)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698480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OUTPUT, REAL EXAMPLES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Real MCQs Generated by the Pipeline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real outputs from the methodology pipeline, run on '100 Cases in General Practice' (2nd ed.). Each shows the Bloom level assigned by Stage 5 and a note explaining which validation rules the item passed.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85216" y="2066544"/>
            <a:ext cx="11064240" cy="1371600"/>
          </a:xfrm>
          <a:prstGeom prst="rect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11064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1106424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400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1, RECALL LEVEL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0104120" y="2048256"/>
            <a:ext cx="132588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104120" y="204825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BLOOM: RECALL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731520" y="2340864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Q. </a:t>
            </a: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the job title of the 23-year-old who was sent home with conjunctivitis?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1520" y="2724912"/>
            <a:ext cx="2583180" cy="292608"/>
          </a:xfrm>
          <a:prstGeom prst="rect">
            <a:avLst/>
          </a:prstGeom>
          <a:solidFill>
            <a:srgbClr val="DCFCE7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2724912"/>
            <a:ext cx="24003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A. </a:t>
            </a: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nursery worker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06140" y="2724912"/>
            <a:ext cx="2583180" cy="292608"/>
          </a:xfrm>
          <a:prstGeom prst="rect">
            <a:avLst/>
          </a:prstGeom>
          <a:solidFill>
            <a:srgbClr val="EEF1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97580" y="2724912"/>
            <a:ext cx="24003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B. </a:t>
            </a: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nursery environment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80760" y="2724912"/>
            <a:ext cx="2583180" cy="292608"/>
          </a:xfrm>
          <a:prstGeom prst="rect">
            <a:avLst/>
          </a:prstGeom>
          <a:solidFill>
            <a:srgbClr val="EEF1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72200" y="2724912"/>
            <a:ext cx="24003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C. </a:t>
            </a: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Preschooler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755380" y="2724912"/>
            <a:ext cx="2583180" cy="292608"/>
          </a:xfrm>
          <a:prstGeom prst="rect">
            <a:avLst/>
          </a:prstGeom>
          <a:solidFill>
            <a:srgbClr val="EEF1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846820" y="2724912"/>
            <a:ext cx="24003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D. </a:t>
            </a: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mothers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1520" y="307238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Pipeline note. </a:t>
            </a: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generation: distractors picked from MedMCQA via similarity matching with length balance. Stage 5 Bloom tagger: classified as recall (factual lookup, no reasoning needed).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85216" y="3529584"/>
            <a:ext cx="11064240" cy="1371600"/>
          </a:xfrm>
          <a:prstGeom prst="rect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48640" y="3474720"/>
            <a:ext cx="11064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48640" y="3474720"/>
            <a:ext cx="1106424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31520" y="3474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400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2, RECALL LEVEL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0104120" y="3511296"/>
            <a:ext cx="132588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104120" y="351129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BLOOM: RECALL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731520" y="3803904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Q. </a:t>
            </a: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differential diagnosis of erectile dysfunction in a 65-year-old man with a hard prostatic nodule?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31520" y="4187952"/>
            <a:ext cx="2583180" cy="292608"/>
          </a:xfrm>
          <a:prstGeom prst="rect">
            <a:avLst/>
          </a:prstGeom>
          <a:solidFill>
            <a:srgbClr val="DCFCE7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22960" y="4187952"/>
            <a:ext cx="24003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A. </a:t>
            </a: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Suspected prostate cancer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406140" y="4187952"/>
            <a:ext cx="2583180" cy="292608"/>
          </a:xfrm>
          <a:prstGeom prst="rect">
            <a:avLst/>
          </a:prstGeom>
          <a:solidFill>
            <a:srgbClr val="EEF1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497580" y="4187952"/>
            <a:ext cx="24003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B. </a:t>
            </a: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 prostatic hyperplasia only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080760" y="4187952"/>
            <a:ext cx="2583180" cy="292608"/>
          </a:xfrm>
          <a:prstGeom prst="rect">
            <a:avLst/>
          </a:prstGeom>
          <a:solidFill>
            <a:srgbClr val="EEF1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172200" y="4187952"/>
            <a:ext cx="24003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C. </a:t>
            </a: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Psychogenic dysfunction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755380" y="4187952"/>
            <a:ext cx="2583180" cy="292608"/>
          </a:xfrm>
          <a:prstGeom prst="rect">
            <a:avLst/>
          </a:prstGeom>
          <a:solidFill>
            <a:srgbClr val="EEF1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846820" y="4187952"/>
            <a:ext cx="24003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D. </a:t>
            </a: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Urinary tract infection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31520" y="453542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Pipeline note. </a:t>
            </a: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UMLS validation: both clinical concepts (prostate cancer, erectile dysfunction) matched to UMLS Concept Identifiers. Item kept. Stage 5 Bloom tagger: classified as recall.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85216" y="4992624"/>
            <a:ext cx="11064240" cy="1371600"/>
          </a:xfrm>
          <a:prstGeom prst="rect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48640" y="4937760"/>
            <a:ext cx="11064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48640" y="4937760"/>
            <a:ext cx="1106424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31520" y="4937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400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3, REASONING LEVEL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10104120" y="4974336"/>
            <a:ext cx="132588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0104120" y="497433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BLOOM: REASONING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731520" y="5266944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Q. </a:t>
            </a: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72-year-old presents with progressive dyspnoea and bibasal crackles. What is the most likely diagnosis?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31520" y="5650992"/>
            <a:ext cx="2583180" cy="292608"/>
          </a:xfrm>
          <a:prstGeom prst="rect">
            <a:avLst/>
          </a:prstGeom>
          <a:solidFill>
            <a:srgbClr val="DCFCE7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822960" y="5650992"/>
            <a:ext cx="24003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A. </a:t>
            </a: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failure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406140" y="5650992"/>
            <a:ext cx="2583180" cy="292608"/>
          </a:xfrm>
          <a:prstGeom prst="rect">
            <a:avLst/>
          </a:prstGeom>
          <a:solidFill>
            <a:srgbClr val="EEF1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497580" y="5650992"/>
            <a:ext cx="24003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B. </a:t>
            </a: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Pulmonary embolism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080760" y="5650992"/>
            <a:ext cx="2583180" cy="292608"/>
          </a:xfrm>
          <a:prstGeom prst="rect">
            <a:avLst/>
          </a:prstGeom>
          <a:solidFill>
            <a:srgbClr val="EEF1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172200" y="5650992"/>
            <a:ext cx="24003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C. </a:t>
            </a: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Asthma exacerbation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8755380" y="5650992"/>
            <a:ext cx="2583180" cy="292608"/>
          </a:xfrm>
          <a:prstGeom prst="rect">
            <a:avLst/>
          </a:prstGeom>
          <a:solidFill>
            <a:srgbClr val="EEF1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8846820" y="5650992"/>
            <a:ext cx="24003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D. </a:t>
            </a: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Pneumonia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31520" y="599846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Pipeline note. </a:t>
            </a: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 Bloom tagger: triggered on the phrase 'most likely diagnosis' which signals reasoning. Stage 3 vignette coherence rule passed (clinical scenario logically leads to the question).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7090, Team 7, MedMCQA Milestone 2 (Revised v3)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0698480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RESULTS, ANSWERING THE RESEARCH QUESTIONS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Pipeline's Outputs Address Each Research Question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maps one RQ to a measurable output of the pipeline. First three rows are the headline RQs; bottom three are supporting evidence. Numbers come from a 300-question test run on a 100-case textbook with the full validation gates applied.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1106424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21031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 / FOCUS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709160" y="21031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897880" y="21031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086600" y="21031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RESULT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275320" y="210312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646920" y="21031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2487168"/>
            <a:ext cx="11064240" cy="384048"/>
          </a:xfrm>
          <a:prstGeom prst="rect">
            <a:avLst/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5800" y="24871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RQ1: Generation Quality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09160" y="248716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T5+LoRA highlight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897880" y="248716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BLEU-4 / ROUGE-L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086600" y="248716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3.69 / 24.5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275320" y="248716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 BLEU vs TF-IDF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601200" y="2560320"/>
            <a:ext cx="1920240" cy="246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601200" y="2560320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85800" y="287121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RQ2: Hallucination Control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09160" y="287121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UMLS CUI validator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897880" y="287121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items passing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086600" y="287121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21.3% (268/1259)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275320" y="287121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rate cut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601200" y="2944368"/>
            <a:ext cx="1920240" cy="246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601200" y="2944368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48640" y="3255264"/>
            <a:ext cx="11064240" cy="384048"/>
          </a:xfrm>
          <a:prstGeom prst="rect">
            <a:avLst/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85800" y="325526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RQ3: Bloom Coverage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709160" y="325526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 keyword tagger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897880" y="325526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at L3-5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086600" y="325526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levels tagged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275320" y="325526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L3-5; F1 0.70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601200" y="3328416"/>
            <a:ext cx="1920240" cy="246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601200" y="3328416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85800" y="363931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Item-Writing Quality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709160" y="363931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Haladyna IWF auditor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897880" y="363931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Flaw-free rate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086600" y="363931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55.7%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275320" y="363931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30-50% baseline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9601200" y="3712464"/>
            <a:ext cx="1920240" cy="246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9601200" y="3712464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48640" y="4023360"/>
            <a:ext cx="11064240" cy="384048"/>
          </a:xfrm>
          <a:prstGeom prst="rect">
            <a:avLst/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85800" y="40233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Distractor Plausibility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709160" y="40233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 + length match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897880" y="40233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0.30-0.85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7086600" y="40233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Mining works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8275320" y="40233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Tarrant 2006 band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9601200" y="4096512"/>
            <a:ext cx="1920240" cy="246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9601200" y="409651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85800" y="440740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4709160" y="440740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code, MIT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5897880" y="440740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code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7086600" y="440740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~2,500 LOC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8275320" y="440740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Re-runnable end-to-end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9601200" y="4480560"/>
            <a:ext cx="1920240" cy="246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9601200" y="4480560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548640" y="492861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from a 300-question test run on the textbook '100 Cases in General Practice' (2nd ed.) using the full pipeline with all validation gates applied.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585216" y="5349240"/>
            <a:ext cx="11064240" cy="1280160"/>
          </a:xfrm>
          <a:prstGeom prst="rect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548640" y="5294376"/>
            <a:ext cx="11064240" cy="1280160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777240" y="5404104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TABLE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777240" y="5660136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RQ1 is the partial-credit answer: lexical metrics (BLEU 3.69, ROUGE 24.5) sit below LLM baselines because our items are passage-grounded extractions from a textbook, not canonical USMLE phrasings. 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RQ2 has working infrastructure: 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the UMLS validator removes 78% of raw T5 output (1259 to 268 items), but the 50% hallucination-rate cut needs the physician panel to confirm. 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 has the tagger working at three levels;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the keyword-rule version ships now, the DistilBERT upgrade is the Milestone 3 deliverable. 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Headline result: 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55.7% of our items are flaw-free on the Haladyna IWF audit, above the 30-50% reported for clinician-written med-school exams (Tarrant 2006).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7090, Team 7, MedMCQA Milestone 2 (Revised v3)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10698480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de Screenshot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Bar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ectionLabel"/>
          <p:cNvSpPr/>
          <p:nvPr/>
        </p:nvSpPr>
        <p:spPr>
          <a:xfrm>
            <a:off x="276860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D9488"/>
                </a:solidFill>
                <a:latin typeface="Calibri" pitchFamily="34" charset="0"/>
              </a:rPr>
              <a:t>CODEBASE, METHODOLOGY MODULES</a:t>
            </a:r>
          </a:p>
        </p:txBody>
      </p:sp>
      <p:sp>
        <p:nvSpPr>
          <p:cNvPr id="4" name="Title"/>
          <p:cNvSpPr/>
          <p:nvPr/>
        </p:nvSpPr>
        <p:spPr>
          <a:xfrm>
            <a:off x="2067560" y="54762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</a:rPr>
              <a:t>Code Behind Each Pipeline Stage</a:t>
            </a:r>
          </a:p>
        </p:txBody>
      </p:sp>
      <p:pic>
        <p:nvPicPr>
          <p:cNvPr id="5" name="Code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90600"/>
            <a:ext cx="11064240" cy="5459400"/>
          </a:xfrm>
          <a:prstGeom prst="rect">
            <a:avLst/>
          </a:prstGeom>
        </p:spPr>
      </p:pic>
      <p:sp>
        <p:nvSpPr>
          <p:cNvPr id="6" name="FooterDivider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FooterLeft"/>
          <p:cNvSpPr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</a:rPr>
              <a:t>CSC 7090, Team 7, MedMCQA Milestone 2 (Revised v3)</a:t>
            </a:r>
          </a:p>
        </p:txBody>
      </p:sp>
      <p:sp>
        <p:nvSpPr>
          <p:cNvPr id="8" name="FooterRight"/>
          <p:cNvSpPr/>
          <p:nvPr/>
        </p:nvSpPr>
        <p:spPr>
          <a:xfrm>
            <a:off x="10698480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</a:rP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utput Sample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Bar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ectionLabel"/>
          <p:cNvSpPr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D9488"/>
                </a:solidFill>
                <a:latin typeface="Calibri" pitchFamily="34" charset="0"/>
              </a:rPr>
              <a:t>OUTPUT, GENERATED QUESTIONS</a:t>
            </a:r>
          </a:p>
        </p:txBody>
      </p:sp>
      <p:sp>
        <p:nvSpPr>
          <p:cNvPr id="4" name="Title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</a:rPr>
              <a:t>Sample Output: pdf_mcqs.jsonl</a:t>
            </a:r>
          </a:p>
        </p:txBody>
      </p:sp>
      <p:pic>
        <p:nvPicPr>
          <p:cNvPr id="5" name="Output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00000"/>
            <a:ext cx="11064240" cy="3712631"/>
          </a:xfrm>
          <a:prstGeom prst="rect">
            <a:avLst/>
          </a:prstGeom>
        </p:spPr>
      </p:pic>
      <p:sp>
        <p:nvSpPr>
          <p:cNvPr id="6" name="FooterDivider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FooterLeft"/>
          <p:cNvSpPr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</a:rPr>
              <a:t>CSC 7090, Team 7, MedMCQA Milestone 2 (Revised v3)</a:t>
            </a:r>
          </a:p>
        </p:txBody>
      </p:sp>
      <p:sp>
        <p:nvSpPr>
          <p:cNvPr id="8" name="FooterRight"/>
          <p:cNvSpPr/>
          <p:nvPr/>
        </p:nvSpPr>
        <p:spPr>
          <a:xfrm>
            <a:off x="10698480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7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548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(SLR + BENCHMARK SOURCES)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6858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Leo et al. (2019). Ontology-based generation of medical, multi-term MCQs. IJAIED 29(2), 145-188.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Kurdi et al. (2020). A systematic review of automatic question generation for educational purposes. IJAIED 30(1), 121-204.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Klang et al. (2023). AI-crafted medical examinations: a pilot study with GPT-4. BMC Med. Educ. 23, 772.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Wang, Fan, Houghton, Wang (2022). Towards process-oriented, modular, and versatile question generation. NAACL 2022, 291-302.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Bitew et al. (2022). Learning to reuse distractors to support multiple-choice question generation. arXiv:2210.13964.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Goncalves, Collares, Pego (2026). AI-enhanced adaptive testing in surgical education. Front. Behav. Neurosci.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 Srivastava &amp; Goodman (2021). Question generation for adaptive education. ACL 2021.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 Vachev et al. (2022). LEAF: multiple-choice question generation. ECIR 2022, LNCS 13186, arXiv:2201.09012.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 Raamadhurai, Baker, Poduval (2019). Curio SmartChat: NL question answering for K-12 learning. BEA Workshop @ ACL 2019.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 Pal, Umapathi, Sankarasubbu (2022). MedMCQA: a large-scale multi-subject MCQ dataset. CHIL/PMLR 174, 248-260.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  Yao et al. (2025). MCQG-SRefine: iterative self-critique for medical MCQ generation. NAACL 2025. arXiv:2410.13191.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  Yang et al. (2025). Knowledge-graph guided distractor generation for clinical MCQs. arXiv:2506.00612.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[13]  Haladyna, Downing, Rodriguez (2002). A review of MCQ item-writing guidelines. Applied Measurement in Education 15(3), 309-333.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[14]  Tarrant, Knierim, Hayes, Ware (2006). Frequency of item-writing flaws in MCQs in nursing assessments. Nurse Educ. Today 26(8), 662-671.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[15]  NBME (2021). Item-writing guide: constructing written test questions. National Board of Medical Examiners.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229600" y="26060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7 CONTACTS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0" y="29718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Pradhyumn Nair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0" y="32278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pn02774@georgiasouthern.edu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0" y="36850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Vishesh Patel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0" y="394106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vp04445@georgiasouthern.edu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0" y="439826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Oluwasola Smith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0" y="465429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os03697@georgiasouthern.edu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2960" y="6355080"/>
            <a:ext cx="10515600" cy="0"/>
          </a:xfrm>
          <a:prstGeom prst="line">
            <a:avLst/>
          </a:prstGeom>
          <a:noFill/>
          <a:ln w="9525">
            <a:solidFill>
              <a:srgbClr val="E078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7090, Team 7, MedMCQA Milestone 2 (Revised v3), Georgia Southern University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6984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3342</Words>
  <Application>Microsoft Office PowerPoint</Application>
  <PresentationFormat>Custom</PresentationFormat>
  <Paragraphs>332</Paragraphs>
  <Slides>17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7 — Milestone 2 (Revised v3)</dc:title>
  <dc:subject>PptxGenJS Presentation</dc:subject>
  <dc:creator>Pradhyumn Nair, Vishesh Patel, Oluwasola Smith</dc:creator>
  <cp:lastModifiedBy>pradhyumn nair</cp:lastModifiedBy>
  <cp:revision>3</cp:revision>
  <dcterms:created xsi:type="dcterms:W3CDTF">2026-04-28T16:13:42Z</dcterms:created>
  <dcterms:modified xsi:type="dcterms:W3CDTF">2026-04-28T18:24:31Z</dcterms:modified>
</cp:coreProperties>
</file>